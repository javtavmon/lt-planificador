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para el equipo de desarrollo del HUB. Objetivo: sustituir la pantalla de prioridades por puesto (prioridad de proceso + días que lleva) por una ordenada por la fecha de necesidad del pedido, con código de color, horas por operación y un KPI de carga en plazo.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Izquierda: la pantalla actual de MONTAJE. Ordena por prioridad de proceso y, dentro, por días que lleva esperando. Derecha: los cuatro elementos de la pantalla nueva.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fecha que se muestra en la pantalla es la fecha en la que la operación tiene que estar terminada en ese puesto para que el pedido llegue a tiempo. El colchón de ruta protege toda la ruta una sola vez, en lugar de inflar el LT de cada 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Maqueta en el estilo del HUB. Los tres KPIs se calculan con las diez líneas de la tabla: 11,5 h en retraso (líneas rojas) sobre 40,0 h de carga → 71,3 % en plazo, por debajo del 98 %, en rojo. El selector de centro permite cambiar de 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 pedida: rojo si la fecha de necesidad es anterior a hoy, amarillo si es hoy, blanco el resto. Las tres propuestas son opcionales y están pendientes de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Requisito: un campo con el tiempo de fabricación por orden. Propuesta: que sean horas pendientes (estándar menos lo imputado) para que el KPI mida la carga real que 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KPI mide qué parte de la carga del puesto (en horas) no va con retraso. Con 2 h en retraso sobre 100 h de carga da 98 %, igual al objetivo: verde. Por debajo, rojo.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«A decidir» necesita una decisión de Producción antes de desarrollar. «Propuesta» es la opción recomendada si nadie dice lo contrario.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Orden propuesto de trabajo. El piloto en MONTAJE permite comparar la nueva pantalla con la actual antes de extenderla al resto de 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Carga por centro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D6E0EC"/>
                </a:solidFill>
                <a:latin typeface="Calibri"/>
              </a:rPr>
              <a:t>Ordenar la carga de cada puesto por la fecha de necesidad del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Especificación funcional para el equipo de desarrollo · Sofitec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D6E0EC"/>
                </a:solidFill>
                <a:latin typeface="Calibri"/>
              </a:rPr>
              <a:t>Javier Távora · Octubre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749039" cy="658368"/>
          </a:xfrm>
          <a:prstGeom prst="roundRect">
            <a:avLst>
              <a:gd name="adj" fmla="val 18000"/>
            </a:avLst>
          </a:prstGeom>
          <a:solidFill>
            <a:srgbClr val="FF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01C35"/>
                </a:solidFill>
                <a:latin typeface="Calibri"/>
              </a:rPr>
              <a:t>698877 · MONTAJE INSERTO</a:t>
            </a:r>
          </a:p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Necesidad 22/09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1901952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 i="0">
                <a:solidFill>
                  <a:srgbClr val="C81E3A"/>
                </a:solidFill>
                <a:latin typeface="Calibri"/>
              </a:rPr>
              <a:t>11 d tarde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697480"/>
            <a:ext cx="3749039" cy="658368"/>
          </a:xfrm>
          <a:prstGeom prst="roundRect">
            <a:avLst>
              <a:gd name="adj" fmla="val 18000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0" y="27706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01C35"/>
                </a:solidFill>
                <a:latin typeface="Calibri"/>
              </a:rPr>
              <a:t>703591 · MONTAR CONJUNTO</a:t>
            </a:r>
          </a:p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Necesidad 07/10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2770632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 i="0">
                <a:solidFill>
                  <a:srgbClr val="8A5A00"/>
                </a:solidFill>
                <a:latin typeface="Calibri"/>
              </a:rPr>
              <a:t>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566160"/>
            <a:ext cx="3749039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0" y="363931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01C35"/>
                </a:solidFill>
                <a:latin typeface="Calibri"/>
              </a:rPr>
              <a:t>705422 · MONTAJE DE INSERTOS</a:t>
            </a:r>
          </a:p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Necesidad 14/10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3639312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 i="0">
                <a:solidFill>
                  <a:srgbClr val="5B6170"/>
                </a:solidFill>
                <a:latin typeface="Calibri"/>
              </a:rPr>
              <a:t>en plazo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De la antigüedad en cola a la fecha que necesita el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HOY</a:t>
            </a:r>
          </a:p>
        </p:txBody>
      </p:sp>
      <p:pic>
        <p:nvPicPr>
          <p:cNvPr id="5" name="Picture 4" descr="prioridades_actual.png"/>
          <p:cNvPicPr>
            <a:picLocks noChangeAspect="1"/>
          </p:cNvPicPr>
          <p:nvPr/>
        </p:nvPicPr>
        <p:blipFill>
          <a:blip r:embed="rId2"/>
          <a:srcRect r="16166" b="33962"/>
          <a:stretch>
            <a:fillRect/>
          </a:stretch>
        </p:blipFill>
        <p:spPr>
          <a:xfrm>
            <a:off x="777240" y="1984248"/>
            <a:ext cx="4983480" cy="20005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44568" y="2514600"/>
            <a:ext cx="1243584" cy="1481328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422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Orden: Prioridad proceso (AOG › URGENTE › PROBETA › NORMAL) y, dentro, «Lleva (días)» de mayor a menor (recuadro).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KPIs: LT teórico frente al LT real de la orden más antigua.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No hay enlace con el pedido: una orden puede ir primero aunque el cliente no la necesite hasta dentro de meses.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544068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428232" y="15727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OBJETIVO</a:t>
            </a:r>
          </a:p>
        </p:txBody>
      </p:sp>
      <p:sp>
        <p:nvSpPr>
          <p:cNvPr id="10" name="Oval 9"/>
          <p:cNvSpPr/>
          <p:nvPr/>
        </p:nvSpPr>
        <p:spPr>
          <a:xfrm>
            <a:off x="6428232" y="2048256"/>
            <a:ext cx="384048" cy="384048"/>
          </a:xfrm>
          <a:prstGeom prst="ellipse">
            <a:avLst/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11680"/>
            <a:ext cx="44348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01C35"/>
                </a:solidFill>
                <a:latin typeface="Calibri"/>
              </a:rPr>
              <a:t>Fecha de necesidad por orden y puesto</a:t>
            </a:r>
          </a:p>
          <a:p>
            <a:pPr algn="l"/>
            <a:r>
              <a:rPr sz="1400" b="0" i="0">
                <a:solidFill>
                  <a:srgbClr val="5B6170"/>
                </a:solidFill>
                <a:latin typeface="Calibri"/>
              </a:rPr>
              <a:t>Calculada hacia atrás desde el pedido y la posición que generan la necesidad.</a:t>
            </a:r>
          </a:p>
        </p:txBody>
      </p:sp>
      <p:sp>
        <p:nvSpPr>
          <p:cNvPr id="12" name="Oval 11"/>
          <p:cNvSpPr/>
          <p:nvPr/>
        </p:nvSpPr>
        <p:spPr>
          <a:xfrm>
            <a:off x="6428232" y="2962656"/>
            <a:ext cx="384048" cy="384048"/>
          </a:xfrm>
          <a:prstGeom prst="ellipse">
            <a:avLst/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926080"/>
            <a:ext cx="44348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01C35"/>
                </a:solidFill>
                <a:latin typeface="Calibri"/>
              </a:rPr>
              <a:t>Orden por fecha de necesidad</a:t>
            </a:r>
          </a:p>
          <a:p>
            <a:pPr algn="l"/>
            <a:r>
              <a:rPr sz="1400" b="0" i="0">
                <a:solidFill>
                  <a:srgbClr val="5B6170"/>
                </a:solidFill>
                <a:latin typeface="Calibri"/>
              </a:rPr>
              <a:t>La más antigua arriba; el pedido y la posición se ven en cada línea.</a:t>
            </a:r>
          </a:p>
        </p:txBody>
      </p:sp>
      <p:sp>
        <p:nvSpPr>
          <p:cNvPr id="14" name="Oval 13"/>
          <p:cNvSpPr/>
          <p:nvPr/>
        </p:nvSpPr>
        <p:spPr>
          <a:xfrm>
            <a:off x="6428232" y="3877056"/>
            <a:ext cx="384048" cy="384048"/>
          </a:xfrm>
          <a:prstGeom prst="ellipse">
            <a:avLst/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840480"/>
            <a:ext cx="44348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01C35"/>
                </a:solidFill>
                <a:latin typeface="Calibri"/>
              </a:rPr>
              <a:t>Color según la fecha</a:t>
            </a:r>
          </a:p>
          <a:p>
            <a:pPr algn="l"/>
            <a:r>
              <a:rPr sz="1400" b="0" i="0">
                <a:solidFill>
                  <a:srgbClr val="5B6170"/>
                </a:solidFill>
                <a:latin typeface="Calibri"/>
              </a:rPr>
              <a:t>Rojo si ya ha pasado, amarillo si es hoy, blanco si es futura.</a:t>
            </a:r>
          </a:p>
        </p:txBody>
      </p:sp>
      <p:sp>
        <p:nvSpPr>
          <p:cNvPr id="16" name="Oval 15"/>
          <p:cNvSpPr/>
          <p:nvPr/>
        </p:nvSpPr>
        <p:spPr>
          <a:xfrm>
            <a:off x="6428232" y="4791456"/>
            <a:ext cx="384048" cy="384048"/>
          </a:xfrm>
          <a:prstGeom prst="ellipse">
            <a:avLst/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754880"/>
            <a:ext cx="44348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01C35"/>
                </a:solidFill>
                <a:latin typeface="Calibri"/>
              </a:rPr>
              <a:t>Horas y KPI de carga en plazo</a:t>
            </a:r>
          </a:p>
          <a:p>
            <a:pPr algn="l"/>
            <a:r>
              <a:rPr sz="1400" b="0" i="0">
                <a:solidFill>
                  <a:srgbClr val="5B6170"/>
                </a:solidFill>
                <a:latin typeface="Calibri"/>
              </a:rPr>
              <a:t>Horas por operación y % de horas en plazo frente a un objetivo del 98 %.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760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Desaparecen la Prioridad proceso, la columna «Lleva (días)» y los KPIs de LT teórico/real.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La fecha de necesidad se calcula hacia atrás desde el pedido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5B6170"/>
                </a:solidFill>
                <a:latin typeface="Calibri"/>
              </a:rPr>
              <a:t>Ejemplo: orden con 7 operaciones, hoy en MONTAJE. D = fecha de la posición del pedido. LT de cada puesto según LT_planificado_2026-09.xlsx.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634701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Aprov.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2 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0501" y="2331720"/>
            <a:ext cx="2856155" cy="685800"/>
          </a:xfrm>
          <a:prstGeom prst="roundRect">
            <a:avLst>
              <a:gd name="adj" fmla="val 8000"/>
            </a:avLst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MONTAJE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 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6656" y="2331720"/>
            <a:ext cx="952051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Verif. mont.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3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8708" y="2331720"/>
            <a:ext cx="1904103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Pintura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6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32811" y="2331720"/>
            <a:ext cx="126940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Verif. pint.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4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214" y="2331720"/>
            <a:ext cx="634701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Ident.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2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6915" y="2331720"/>
            <a:ext cx="952051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Envío</a:t>
            </a:r>
          </a:p>
          <a:p>
            <a:pPr algn="ctr"/>
            <a:r>
              <a:rPr sz="1100" b="0">
                <a:solidFill>
                  <a:srgbClr val="244264"/>
                </a:solidFill>
                <a:latin typeface="Calibri"/>
              </a:rPr>
              <a:t>3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88967" y="2331720"/>
            <a:ext cx="1586752" cy="685800"/>
          </a:xfrm>
          <a:prstGeom prst="roundRect">
            <a:avLst>
              <a:gd name="adj" fmla="val 8000"/>
            </a:avLst>
          </a:prstGeom>
          <a:solidFill>
            <a:srgbClr val="ECE9FB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/>
            <a:r>
              <a:rPr sz="1100" b="1">
                <a:solidFill>
                  <a:srgbClr val="422AD5"/>
                </a:solidFill>
                <a:latin typeface="Calibri"/>
              </a:rPr>
              <a:t>Colchón</a:t>
            </a:r>
          </a:p>
          <a:p>
            <a:pPr algn="ctr"/>
            <a:r>
              <a:rPr sz="1100" b="0">
                <a:solidFill>
                  <a:srgbClr val="422AD5"/>
                </a:solidFill>
                <a:latin typeface="Calibri"/>
              </a:rPr>
              <a:t>5 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4088" y="2176272"/>
            <a:ext cx="5657447" cy="0"/>
          </a:xfrm>
          <a:prstGeom prst="line">
            <a:avLst/>
          </a:prstGeom>
          <a:ln w="19050">
            <a:solidFill>
              <a:srgbClr val="244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04088" y="2176272"/>
            <a:ext cx="0" cy="109728"/>
          </a:xfrm>
          <a:prstGeom prst="line">
            <a:avLst/>
          </a:prstGeom>
          <a:ln w="19050">
            <a:solidFill>
              <a:srgbClr val="244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61535" y="2176272"/>
            <a:ext cx="0" cy="109728"/>
          </a:xfrm>
          <a:prstGeom prst="line">
            <a:avLst/>
          </a:prstGeom>
          <a:ln w="19050">
            <a:solidFill>
              <a:srgbClr val="244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4088" y="1856231"/>
            <a:ext cx="565744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244264"/>
                </a:solidFill>
                <a:latin typeface="Calibri"/>
              </a:rPr>
              <a:t>Σ LT de las operaciones posteriores = 18 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16399" y="2176272"/>
            <a:ext cx="1531889" cy="0"/>
          </a:xfrm>
          <a:prstGeom prst="line">
            <a:avLst/>
          </a:prstGeom>
          <a:ln w="19050">
            <a:solidFill>
              <a:srgbClr val="422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16399" y="2176272"/>
            <a:ext cx="0" cy="109728"/>
          </a:xfrm>
          <a:prstGeom prst="line">
            <a:avLst/>
          </a:prstGeom>
          <a:ln w="19050">
            <a:solidFill>
              <a:srgbClr val="422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48288" y="2176272"/>
            <a:ext cx="0" cy="109728"/>
          </a:xfrm>
          <a:prstGeom prst="line">
            <a:avLst/>
          </a:prstGeom>
          <a:ln w="19050">
            <a:solidFill>
              <a:srgbClr val="422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16399" y="1856231"/>
            <a:ext cx="153188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422AD5"/>
                </a:solidFill>
                <a:latin typeface="Calibri"/>
              </a:rPr>
              <a:t>Colchón de ruta = 5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741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948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051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454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1155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3207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D−5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30632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5B6170"/>
                </a:solidFill>
                <a:latin typeface="Calibri"/>
              </a:rPr>
              <a:t>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76656" y="2240280"/>
            <a:ext cx="0" cy="1399032"/>
          </a:xfrm>
          <a:prstGeom prst="line">
            <a:avLst/>
          </a:prstGeom>
          <a:ln w="25400">
            <a:solidFill>
              <a:srgbClr val="C8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13616" y="365760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C81E3A"/>
                </a:solidFill>
                <a:latin typeface="Calibri"/>
              </a:rPr>
              <a:t>Necesidad en MONTAJE = D − 23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3649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44264"/>
                </a:solidFill>
                <a:latin typeface="Calibri"/>
              </a:rPr>
              <a:t>Lanzamiento = D − 34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3649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i="0">
                <a:solidFill>
                  <a:srgbClr val="244264"/>
                </a:solidFill>
                <a:latin typeface="Calibri"/>
              </a:rPr>
              <a:t>D = fecha del pedido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61722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43434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44264"/>
                </a:solidFill>
                <a:latin typeface="Calibri"/>
              </a:rPr>
              <a:t>Cómo se calcula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54880"/>
            <a:ext cx="576072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01C35"/>
                </a:solidFill>
                <a:latin typeface="Calibri"/>
              </a:rPr>
              <a:t>Necesidad en el puesto</a:t>
            </a:r>
            <a:r>
              <a:rPr sz="1400" b="0" i="0">
                <a:solidFill>
                  <a:srgbClr val="101C35"/>
                </a:solidFill>
                <a:latin typeface="Calibri"/>
              </a:rPr>
              <a:t> = D − colchón de ruta − Σ LT de las operaciones posteriores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01C35"/>
                </a:solidFill>
                <a:latin typeface="Calibri"/>
              </a:rPr>
              <a:t>Lanzamiento de la orden</a:t>
            </a:r>
            <a:r>
              <a:rPr sz="1400" b="0" i="0">
                <a:solidFill>
                  <a:srgbClr val="101C35"/>
                </a:solidFill>
                <a:latin typeface="Calibri"/>
              </a:rPr>
              <a:t> = D − colchón de ruta − Σ LT de todas las operaciones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170"/>
                </a:solidFill>
                <a:latin typeface="Calibri"/>
              </a:rPr>
              <a:t>Siempre en días laborables del calendario de fábrica.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31152" y="4206240"/>
            <a:ext cx="47091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59752" y="4343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44264"/>
                </a:solidFill>
                <a:latin typeface="Calibri"/>
              </a:rPr>
              <a:t>De dónde salen los 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475488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LT por puesto: columna «LT propuesto» del Excel mensual de LT planificado.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Colchón = √Σ(P75 − P50)² de toda la ruta: √25 = 5 d.</a:t>
            </a:r>
          </a:p>
          <a:p>
            <a:pPr algn="l" marL="201168" indent="-201168">
              <a:spcAft>
                <a:spcPts val="5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Se recalcula cada noche y al cambiar la fecha del pedido.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Pantalla objetivo: la carga del puesto ordenada por necesidad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1672" cy="5120640"/>
          </a:xfrm>
          <a:prstGeom prst="roundRect">
            <a:avLst>
              <a:gd name="adj" fmla="val 1500"/>
            </a:avLst>
          </a:prstGeom>
          <a:solidFill>
            <a:srgbClr val="F5F5F5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1672" cy="384048"/>
          </a:xfrm>
          <a:prstGeom prst="rect">
            <a:avLst/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Sofitec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34416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 w="9525">
            <a:solidFill>
              <a:srgbClr val="8FB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Centro: MONTAJE 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44264"/>
                </a:solidFill>
                <a:latin typeface="Calibri"/>
              </a:rPr>
              <a:t>Carga de trabajo · MONTAJE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5B6170"/>
                </a:solidFill>
                <a:latin typeface="Calibri"/>
              </a:rPr>
              <a:t>Ordenado por fecha de necesidad · Actualizado 07/10/2026 08:30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048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E0E5"/>
          </a:solidFill>
          <a:ln w="9525">
            <a:solidFill>
              <a:srgbClr val="FF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983" y="23591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01C35"/>
                </a:solidFill>
                <a:latin typeface="Calibri"/>
              </a:rPr>
              <a:t>Retraso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4048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4CC"/>
          </a:solidFill>
          <a:ln w="9525">
            <a:solidFill>
              <a:srgbClr val="FFF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75104" y="23591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01C35"/>
                </a:solidFill>
                <a:latin typeface="Calibri"/>
              </a:rPr>
              <a:t>Hoy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4048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5224" y="23591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01C35"/>
                </a:solidFill>
                <a:latin typeface="Calibri"/>
              </a:rPr>
              <a:t>En plazo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591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F766E"/>
                </a:solidFill>
                <a:latin typeface="Calibri"/>
              </a:rPr>
              <a:t>▶</a:t>
            </a:r>
            <a:r>
              <a:rPr sz="1050" b="0" i="0">
                <a:solidFill>
                  <a:srgbClr val="101C35"/>
                </a:solidFill>
                <a:latin typeface="Calibri"/>
              </a:rPr>
              <a:t> En curso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2824" y="178308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02552" y="18196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Horas en retraso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C81E3A"/>
                </a:solidFill>
                <a:latin typeface="Calibri"/>
              </a:rPr>
              <a:t>11,5 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1" y="178308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6759" y="18196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Horas de carga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44264"/>
                </a:solidFill>
                <a:latin typeface="Calibri"/>
              </a:rPr>
              <a:t>40,0 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78308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E0E5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30967" y="18196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% carga en plazo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0116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C81E3A"/>
                </a:solidFill>
                <a:latin typeface="Calibri"/>
              </a:rPr>
              <a:t>71,3 %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23317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C81E3A"/>
                </a:solidFill>
                <a:latin typeface="Calibri"/>
              </a:rPr>
              <a:t>Objetivo ≥ 98 %</a:t>
            </a:r>
          </a:p>
        </p:txBody>
      </p:sp>
      <p:graphicFrame>
        <p:nvGraphicFramePr>
          <p:cNvPr id="26" name="Tabla maqueta"/>
          <p:cNvGraphicFramePr>
            <a:graphicFrameLocks noGrp="1"/>
          </p:cNvGraphicFramePr>
          <p:nvPr/>
        </p:nvGraphicFramePr>
        <p:xfrm>
          <a:off x="777240" y="2743200"/>
          <a:ext cx="10634472" cy="291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/>
                <a:gridCol w="411480"/>
                <a:gridCol w="1600200"/>
                <a:gridCol w="1371600"/>
                <a:gridCol w="457200"/>
                <a:gridCol w="1783080"/>
                <a:gridCol w="749808"/>
                <a:gridCol w="1005840"/>
                <a:gridCol w="777240"/>
                <a:gridCol w="640080"/>
                <a:gridCol w="502920"/>
                <a:gridCol w="768096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LANZ.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Cant.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Proyecto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Designación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Nº Op.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F. inicial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Pedido / pos.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Necesidad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Retraso</a:t>
                      </a:r>
                    </a:p>
                  </a:txBody>
                  <a:tcPr marL="45720" marR="45720" marT="9144" marB="9144" anchor="ctr">
                    <a:solidFill>
                      <a:srgbClr val="D9F7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Horas</a:t>
                      </a:r>
                    </a:p>
                  </a:txBody>
                  <a:tcPr marL="45720" marR="45720" marT="9144" marB="9144" anchor="ctr">
                    <a:solidFill>
                      <a:srgbClr val="D9F7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74151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45720" marR="45720" marT="9144" marB="9144" anchor="ctr">
                    <a:solidFill>
                      <a:srgbClr val="D9F7F3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698877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PISOS DE FUSELAJE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FLOOR ASSY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 INSERTO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23/09/2026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7648-16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22/09/2026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C81E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3,5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>▶ En curso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708284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PISOS DE RAMPA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PANEL PISO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 INSERTO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21/09/2026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10995-10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29/09/2026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C81E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2,0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714632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PLENUMS AND VISOR H160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RH CENTER HALF-PLE…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MONTAJE/ASSEMBLY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02/10/2026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10903-140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02/10/2026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C81E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4,5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709114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PUERTA AVIONICA Y REG…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PUERTA AVIONICA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TALADRAR Y AVELLANAR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01/10/2026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12998-43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06/10/2026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C81E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1,5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703591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CENTRALES ELECTRICAS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CONJUNTO PLACA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MONTAR CONJUNTO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02/10/2026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10117-4 (+1)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07/10/2026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5,5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>▶ En curso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685871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CRASH PAD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 PRELIMINAR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28/09/2026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10194-10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07/10/2026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2,5</a:t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4CC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691633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CONO DE COLA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CONE ASSY END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06/10/2026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9672-3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09/10/2026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4,0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705422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PLANO MEDIO FUSELAJE C295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TOP COVER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 DE INSERTOS Y…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07/10/2026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10022-3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14/10/2026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8,0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679340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A350 BRACKETS (IND)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92-EQUIPPED BRACKET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 DE TUERCAS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05/10/2026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PIR-090102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21/10/2026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5,5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690431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KITS TAPAS ALA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REGISTRO 3505-3860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MONTAJE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23/09/2026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PIR-090101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C35"/>
                          </a:solidFill>
                          <a:latin typeface="Calibri"/>
                        </a:rPr>
                        <a:t>04/11/2026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C35"/>
                          </a:solidFill>
                          <a:latin typeface="Calibri"/>
                        </a:rPr>
                        <a:t>3,0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0F766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7240" y="5961888"/>
            <a:ext cx="1063447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Datos ilustrativos · hoy = 07/10/2026. Columnas en verde agua: nuevas (Horas = cambio 2; Retraso en días laborables y Estado = propuesta). Se mantienen las demás columnas actuales (Paq., Ciclo…). Los KPIs suman las horas de todas las líneas del puesto.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Cambio 1 · El color de la línea dice si la operación llega a tiempo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49808" y="1572768"/>
            <a:ext cx="3163824" cy="457200"/>
          </a:xfrm>
          <a:prstGeom prst="roundRect">
            <a:avLst>
              <a:gd name="adj" fmla="val 12000"/>
            </a:avLst>
          </a:prstGeom>
          <a:solidFill>
            <a:srgbClr val="FFE0E5"/>
          </a:solidFill>
          <a:ln w="9525">
            <a:solidFill>
              <a:srgbClr val="FF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0">
                <a:solidFill>
                  <a:srgbClr val="101C35"/>
                </a:solidFill>
                <a:latin typeface="Calibri"/>
              </a:rPr>
              <a:t>698877 · MONTAJE INSERTO · 22/09/2026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i="0">
                <a:solidFill>
                  <a:srgbClr val="C81E3A"/>
                </a:solidFill>
                <a:latin typeface="Calibri"/>
              </a:rPr>
              <a:t>Rojo · necesidad &lt;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La operación ya va tarde. Sus horas cuentan como horas en retraso.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1396" y="137160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512564" y="1572768"/>
            <a:ext cx="3163824" cy="457200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9525">
            <a:solidFill>
              <a:srgbClr val="FFF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0">
                <a:solidFill>
                  <a:srgbClr val="101C35"/>
                </a:solidFill>
                <a:latin typeface="Calibri"/>
              </a:rPr>
              <a:t>703591 · MONTAR CONJUNTO ·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6" y="22128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i="0">
                <a:solidFill>
                  <a:srgbClr val="8A5A00"/>
                </a:solidFill>
                <a:latin typeface="Calibri"/>
              </a:rPr>
              <a:t>Amarillo · necesidad = 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996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Tiene que terminar hoy. Todavía cuenta como en 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371600"/>
            <a:ext cx="35661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275320" y="1572768"/>
            <a:ext cx="316382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0">
                <a:solidFill>
                  <a:srgbClr val="101C35"/>
                </a:solidFill>
                <a:latin typeface="Calibri"/>
              </a:rPr>
              <a:t>705422 · TOP COVER · 14/10/2026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128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i="0">
                <a:solidFill>
                  <a:srgbClr val="244264"/>
                </a:solidFill>
                <a:latin typeface="Calibri"/>
              </a:rPr>
              <a:t>Blanco · necesidad &gt; 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6700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En plazo. Sin marca especial.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9167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338328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22AD5"/>
                </a:solidFill>
                <a:latin typeface="Calibri"/>
              </a:rPr>
              <a:t>Columna «Retraso (días)»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El color dice si va tarde; el número, cuánto. Días laborables desde la fecha de necesidad. Sustituye a «Lleva (días)».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4434840"/>
            <a:ext cx="338328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22AD5"/>
                </a:solidFill>
                <a:latin typeface="Calibri"/>
              </a:rPr>
              <a:t>Indicador «En curso»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El amarillo pasa a significar «hoy»: las órdenes a las que se están cargando horas se marcan con un icono en la columna Estado.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434840"/>
            <a:ext cx="338328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22AD5"/>
                </a:solidFill>
                <a:latin typeface="Calibri"/>
              </a:rPr>
              <a:t>Aviso amarillo configurable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Por defecto solo hoy; un parámetro por puesto permite avisar con N días laborables de antelación.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Cambio 2 · Horas de fabricación en cada línea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400" b="0">
                <a:solidFill>
                  <a:srgbClr val="244264"/>
                </a:solidFill>
                <a:latin typeface="Calibri"/>
              </a:rPr>
              <a:t>Preparación</a:t>
            </a:r>
          </a:p>
          <a:p>
            <a:pPr algn="ctr"/>
            <a:r>
              <a:rPr sz="2800" b="1">
                <a:solidFill>
                  <a:srgbClr val="244264"/>
                </a:solidFill>
                <a:latin typeface="Calibri"/>
              </a:rPr>
              <a:t>0,5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463040"/>
            <a:ext cx="411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244264"/>
                </a:solidFill>
                <a:latin typeface="Calibri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463040"/>
            <a:ext cx="2834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400" b="0">
                <a:solidFill>
                  <a:srgbClr val="244264"/>
                </a:solidFill>
                <a:latin typeface="Calibri"/>
              </a:rPr>
              <a:t>Tiempo unitario × cantidad</a:t>
            </a:r>
          </a:p>
          <a:p>
            <a:pPr algn="ctr"/>
            <a:r>
              <a:rPr sz="2800" b="1">
                <a:solidFill>
                  <a:srgbClr val="244264"/>
                </a:solidFill>
                <a:latin typeface="Calibri"/>
              </a:rPr>
              <a:t>0,9 h ×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463040"/>
            <a:ext cx="411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422AD5"/>
                </a:solidFill>
                <a:latin typeface="Calibri"/>
              </a:rPr>
              <a:t>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ECE9FB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400" b="0">
                <a:solidFill>
                  <a:srgbClr val="422AD5"/>
                </a:solidFill>
                <a:latin typeface="Calibri"/>
              </a:rPr>
              <a:t>Ya imputado (propuesta)</a:t>
            </a:r>
          </a:p>
          <a:p>
            <a:pPr algn="ctr"/>
            <a:r>
              <a:rPr sz="2800" b="1">
                <a:solidFill>
                  <a:srgbClr val="422AD5"/>
                </a:solidFill>
                <a:latin typeface="Calibri"/>
              </a:rPr>
              <a:t>0,4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411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200" b="1" i="0">
                <a:solidFill>
                  <a:srgbClr val="244264"/>
                </a:solidFill>
                <a:latin typeface="Calibri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59" y="1463040"/>
            <a:ext cx="2816352" cy="1097280"/>
          </a:xfrm>
          <a:prstGeom prst="roundRect">
            <a:avLst>
              <a:gd name="adj" fmla="val 8000"/>
            </a:avLst>
          </a:prstGeom>
          <a:solidFill>
            <a:srgbClr val="244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Horas pendientes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5,5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0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Ejemplo: orden 703591, 6 uds., operación 20 MONTAR CONJUNTO. Tiempos estándar de la hoja de ruta del PN.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406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34290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REQUISITO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Tiempo de fabricación de la operación actual en el puesto, a partir del estándar de la hoja de ruta.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Se muestra en horas con un decimal (3,5 h); internamente en minutos.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Es el dato que suman los KPIs de carga del cambio 3.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101C35"/>
                </a:solidFill>
                <a:latin typeface="Calibri"/>
              </a:rPr>
              <a:t>Sin tiempo estándar: mostrar «s/e» y avisar al planificador.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246120"/>
            <a:ext cx="54406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28232" y="34290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840480"/>
            <a:ext cx="498348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22AD5"/>
                </a:solidFill>
                <a:latin typeface="Calibri"/>
              </a:rPr>
              <a:t>Horas pendientes, no totales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Restar lo ya imputado (mínimo 0): una orden a medias no pesa en la carga como una nueva.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22AD5"/>
                </a:solidFill>
                <a:latin typeface="Calibri"/>
              </a:rPr>
              <a:t>Fase 2: carga acumulada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Suma de horas desde la primera línea; con la capacidad diaria del puesto da el día previsto de proceso de cada orden.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Cambio 3 · Un KPI de carga en plazo con objetivo del 98 %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1508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5B6170"/>
                </a:solidFill>
                <a:latin typeface="Calibri"/>
              </a:rPr>
              <a:t>Horas en retraso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81051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 i="0">
                <a:solidFill>
                  <a:srgbClr val="244264"/>
                </a:solidFill>
                <a:latin typeface="Calibri"/>
              </a:rPr>
              <a:t>2,0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Líneas con necesidad anterior a hoy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1396" y="1371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85716" y="1508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5B6170"/>
                </a:solidFill>
                <a:latin typeface="Calibri"/>
              </a:rPr>
              <a:t>Horas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5716" y="181051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 i="0">
                <a:solidFill>
                  <a:srgbClr val="244264"/>
                </a:solidFill>
                <a:latin typeface="Calibri"/>
              </a:rPr>
              <a:t>100,0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6" y="26060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Todas las líneas del puesto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371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48472" y="1508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5B6170"/>
                </a:solidFill>
                <a:latin typeface="Calibri"/>
              </a:rPr>
              <a:t>% carga en plazo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81051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 i="0">
                <a:solidFill>
                  <a:srgbClr val="15803D"/>
                </a:solidFill>
                <a:latin typeface="Calibri"/>
              </a:rPr>
              <a:t>98,0 %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6060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15803D"/>
                </a:solidFill>
                <a:latin typeface="Calibri"/>
              </a:rPr>
              <a:t>Objetivo ≥ 98 % → verde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5760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44264"/>
                </a:solidFill>
                <a:latin typeface="Calibri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01C35"/>
                </a:solidFill>
                <a:latin typeface="Calibri"/>
              </a:rPr>
              <a:t>% carga en plazo = (horas de carga − horas en retraso) ÷ horas de carga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Retraso: necesidad anterior a hoy. Las de hoy cuentan como en plazo.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Verde si ≥ 98,0 %; rojo si &lt; 98,0 %. Se compara el valor redondeado a un decimal, el mismo que se ve.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01C35"/>
                </a:solidFill>
                <a:latin typeface="Calibri"/>
              </a:rPr>
              <a:t>Sin carga en el puesto: mostrar «—» en gris.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3291840"/>
            <a:ext cx="51206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748272" y="3493008"/>
          <a:ext cx="466344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1188720"/>
                <a:gridCol w="1280160"/>
                <a:gridCol w="114300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  <a:latin typeface="Calibri"/>
                        </a:rPr>
                        <a:t>Retraso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  <a:latin typeface="Calibri"/>
                        </a:rPr>
                        <a:t>Carga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  <a:latin typeface="Calibri"/>
                        </a:rPr>
                        <a:t>% en plazo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374151"/>
                          </a:solidFill>
                          <a:latin typeface="Calibri"/>
                        </a:rPr>
                        <a:t>Color</a:t>
                      </a:r>
                    </a:p>
                  </a:txBody>
                  <a:tcPr marL="45720" marR="45720" marT="9144" marB="9144" anchor="ctr">
                    <a:solidFill>
                      <a:srgbClr val="E5E7EB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2,0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100,0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98,0 %</a:t>
                      </a:r>
                    </a:p>
                  </a:txBody>
                  <a:tcPr marL="45720" marR="45720" marT="9144" marB="9144" anchor="ctr">
                    <a:solidFill>
                      <a:srgbClr val="DCFC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45720" marR="45720" marT="9144" marB="9144" anchor="ctr"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1,0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100,0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99,0 %</a:t>
                      </a:r>
                    </a:p>
                  </a:txBody>
                  <a:tcPr marL="45720" marR="45720" marT="9144" marB="9144" anchor="ctr">
                    <a:solidFill>
                      <a:srgbClr val="DCFC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45720" marR="45720" marT="9144" marB="9144" anchor="ctr"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2,5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100,0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C81E3A"/>
                          </a:solidFill>
                          <a:latin typeface="Calibri"/>
                        </a:rPr>
                        <a:t>97,5 %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C81E3A"/>
                          </a:solidFill>
                          <a:latin typeface="Calibri"/>
                        </a:rPr>
                        <a:t>Rojo</a:t>
                      </a:r>
                    </a:p>
                  </a:txBody>
                  <a:tcPr marL="45720" marR="45720" marT="9144" marB="9144" anchor="ctr">
                    <a:solidFill>
                      <a:srgbClr val="FFE0E5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>
                          <a:solidFill>
                            <a:srgbClr val="101C35"/>
                          </a:solidFill>
                          <a:latin typeface="Calibri"/>
                        </a:rPr>
                        <a:t>0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5B617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0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1">
                          <a:solidFill>
                            <a:srgbClr val="5B6170"/>
                          </a:solidFill>
                          <a:latin typeface="Calibri"/>
                        </a:rPr>
                        <a:t>Gris</a:t>
                      </a:r>
                    </a:p>
                  </a:txBody>
                  <a:tcPr marL="45720" marR="45720" marT="9144" marB="9144" anchor="ctr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748272" y="5349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285232"/>
            <a:ext cx="35661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Guardar el valor diario para ver la tendencia y hacer el objetivo configurable por puesto.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244264"/>
                </a:solidFill>
                <a:latin typeface="Calibri"/>
              </a:rPr>
              <a:t>Reglas que desarrollo necesita cerradas antes de empezar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Varias posiciones de pedido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000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Se usa la fecha más temprana. En la columna, la primera posición y «(+n)»; el resto, en el tooltip.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1396" y="1371600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539996" y="15727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C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A DECIDIR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9996" y="1965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Órdenes sin pedido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996" y="235000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Probetas, repuestos o stock. Nunca una fecha ficticia (31/12/2099): la probeta hereda la fecha de la orden que certifica; el resto, la del MRP.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371600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302752" y="15727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C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244264"/>
                </a:solidFill>
                <a:latin typeface="Calibri"/>
              </a:rPr>
              <a:t>A DECIDIR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65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Órdenes AOG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5000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Propuesta: AOG siempre arriba con etiqueta y, entre ellas, por fecha. Un avión en tierra no debe esperar detrás de un retraso NORMAL.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3950207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Subconjuntos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2744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La necesidad de una orden hija es la fecha de necesidad de la operación del padre que la consume, en cascada por niveles.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1396" y="3749039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539996" y="3950207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9996" y="4343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Empates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9996" y="472744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Con la misma fecha de necesidad va primero la que llegó antes al puesto (F. inicial) y después por nº de lanzamiento.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3749039"/>
            <a:ext cx="3566160" cy="21762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302752" y="3950207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22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43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44264"/>
                </a:solidFill>
                <a:latin typeface="Calibri"/>
              </a:rPr>
              <a:t>Cálculo y refresco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727448"/>
            <a:ext cx="3154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101C35"/>
                </a:solidFill>
                <a:latin typeface="Calibri"/>
              </a:rPr>
              <a:t>Fechas recalculadas cada noche y al cambiar el pedido o el LT del puesto. Pantalla refrescada cada 5 min con la hora 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Sofitec HUB · Carga por centro de trabajo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57807" y="2057400"/>
            <a:ext cx="8873337" cy="0"/>
          </a:xfrm>
          <a:prstGeom prst="line">
            <a:avLst/>
          </a:prstGeom>
          <a:ln w="25400">
            <a:solidFill>
              <a:srgbClr val="5A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337767" y="1737360"/>
            <a:ext cx="640080" cy="640080"/>
          </a:xfrm>
          <a:prstGeom prst="ellipse">
            <a:avLst/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244264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199887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Validar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99887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>
                <a:solidFill>
                  <a:srgbClr val="D6E0EC"/>
                </a:solidFill>
                <a:latin typeface="Calibri"/>
              </a:rPr>
              <a:t>Revisar las propuestas y cerrar AOG y órdenes sin pedido.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2027" y="4434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Producción</a:t>
            </a:r>
          </a:p>
        </p:txBody>
      </p:sp>
      <p:sp>
        <p:nvSpPr>
          <p:cNvPr id="8" name="Oval 7"/>
          <p:cNvSpPr/>
          <p:nvPr/>
        </p:nvSpPr>
        <p:spPr>
          <a:xfrm>
            <a:off x="3556101" y="1737360"/>
            <a:ext cx="640080" cy="640080"/>
          </a:xfrm>
          <a:prstGeom prst="ellipse">
            <a:avLst/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244264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6702" y="2606040"/>
            <a:ext cx="199887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6702" y="3063240"/>
            <a:ext cx="199887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>
                <a:solidFill>
                  <a:srgbClr val="D6E0EC"/>
                </a:solidFill>
                <a:latin typeface="Calibri"/>
              </a:rPr>
              <a:t>Tabla de LT por puesto, enlace de cada orden con su pedido y posición, y horas estándar.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0361" y="4434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Desarrollo</a:t>
            </a:r>
          </a:p>
        </p:txBody>
      </p:sp>
      <p:sp>
        <p:nvSpPr>
          <p:cNvPr id="12" name="Oval 11"/>
          <p:cNvSpPr/>
          <p:nvPr/>
        </p:nvSpPr>
        <p:spPr>
          <a:xfrm>
            <a:off x="5774436" y="1737360"/>
            <a:ext cx="640080" cy="640080"/>
          </a:xfrm>
          <a:prstGeom prst="ellipse">
            <a:avLst/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24426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5036" y="2606040"/>
            <a:ext cx="199887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Cálculo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036" y="3063240"/>
            <a:ext cx="199887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>
                <a:solidFill>
                  <a:srgbClr val="D6E0EC"/>
                </a:solidFill>
                <a:latin typeface="Calibri"/>
              </a:rPr>
              <a:t>Proceso nocturno de la fecha de necesidad por operación con el calendario de fábrica.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4434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Desarrollo</a:t>
            </a:r>
          </a:p>
        </p:txBody>
      </p:sp>
      <p:sp>
        <p:nvSpPr>
          <p:cNvPr id="16" name="Oval 15"/>
          <p:cNvSpPr/>
          <p:nvPr/>
        </p:nvSpPr>
        <p:spPr>
          <a:xfrm>
            <a:off x="7992770" y="1737360"/>
            <a:ext cx="640080" cy="640080"/>
          </a:xfrm>
          <a:prstGeom prst="ellipse">
            <a:avLst/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244264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3371" y="2606040"/>
            <a:ext cx="199887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371" y="3063240"/>
            <a:ext cx="199887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>
                <a:solidFill>
                  <a:srgbClr val="D6E0EC"/>
                </a:solidFill>
                <a:latin typeface="Calibri"/>
              </a:rPr>
              <a:t>Pantalla en el HUB para MONTAJE, 4 semanas en paralelo con la actual.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0803" y="4434840"/>
            <a:ext cx="1944014" cy="274320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Desarrollo + Producción</a:t>
            </a:r>
          </a:p>
        </p:txBody>
      </p:sp>
      <p:sp>
        <p:nvSpPr>
          <p:cNvPr id="20" name="Oval 19"/>
          <p:cNvSpPr/>
          <p:nvPr/>
        </p:nvSpPr>
        <p:spPr>
          <a:xfrm>
            <a:off x="10211104" y="1737360"/>
            <a:ext cx="640080" cy="640080"/>
          </a:xfrm>
          <a:prstGeom prst="ellipse">
            <a:avLst/>
          </a:prstGeom>
          <a:solidFill>
            <a:srgbClr val="00D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>
                <a:solidFill>
                  <a:srgbClr val="244264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1705" y="2606040"/>
            <a:ext cx="199887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3240"/>
            <a:ext cx="199887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>
                <a:solidFill>
                  <a:srgbClr val="D6E0EC"/>
                </a:solidFill>
                <a:latin typeface="Calibri"/>
              </a:rPr>
              <a:t>Resto de puestos y seguimiento mensual del KPI y de los 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05364" y="44348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0">
                <a:solidFill>
                  <a:srgbClr val="D6E0EC"/>
                </a:solidFill>
                <a:latin typeface="Calibri"/>
              </a:rPr>
              <a:t>Material de apoyo: LT_planificado_2026-09.xlsx y calcular_lt_planificado.py (revisión mensual del LT por puesto).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Carga por centro de trabajo: ordenar por fecha de necesidad</dc:title>
  <dc:subject/>
  <dc:creator>Javier Távora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